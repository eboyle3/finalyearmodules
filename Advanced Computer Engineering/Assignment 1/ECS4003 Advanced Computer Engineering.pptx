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CB59FB-D4FB-4A43-90D4-2B1D2DF18B32}">
  <a:tblStyle styleId="{5BCB59FB-D4FB-4A43-90D4-2B1D2DF18B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6908bacf7d438f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6908bacf7d438f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6908bacf7d438fa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6908bacf7d438fa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6908bacf7d438fa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6908bacf7d438fa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6908bacf7d438fa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6908bacf7d438fa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6908bacf7d438fa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6908bacf7d438fa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6908bacf7d438fa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6908bacf7d438fa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6908bacf7d438fa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6908bacf7d438fa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6908bacf7d438fa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6908bacf7d438fa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6908bacf7d438fa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6908bacf7d438fa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ECS4003: Advanced Computer Engineering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4125"/>
                </a:solidFill>
              </a:rPr>
              <a:t>Assignment 1: Thinking Slowly</a:t>
            </a:r>
            <a:endParaRPr>
              <a:solidFill>
                <a:srgbClr val="CC412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4125"/>
                </a:solidFill>
              </a:rPr>
              <a:t>Student Number: 40372849</a:t>
            </a:r>
            <a:endParaRPr>
              <a:solidFill>
                <a:srgbClr val="CC412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Part (a): Initial Untimed Implementation of the Formulae	</a:t>
            </a:r>
            <a:endParaRPr>
              <a:solidFill>
                <a:srgbClr val="980000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1152475"/>
            <a:ext cx="6019450" cy="104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475" y="2337000"/>
            <a:ext cx="33718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745" y="3877000"/>
            <a:ext cx="27051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7406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7650" y="144600"/>
            <a:ext cx="7396174" cy="485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Part (b): </a:t>
            </a:r>
            <a:r>
              <a:rPr lang="en">
                <a:solidFill>
                  <a:srgbClr val="980000"/>
                </a:solidFill>
              </a:rPr>
              <a:t>Calculating Initiation Interval from Actor Latencies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Last 4 Digits of student number: 2849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0" name="Google Shape;80;p17"/>
          <p:cNvGraphicFramePr/>
          <p:nvPr/>
        </p:nvGraphicFramePr>
        <p:xfrm>
          <a:off x="2159000" y="187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{5BCB59FB-D4FB-4A43-90D4-2B1D2DF18B32}</a:tableStyleId>
              </a:tblPr>
              <a:tblGrid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Actor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Resulting Latency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2 % 4 = </a:t>
                      </a:r>
                      <a:r>
                        <a:rPr lang="en">
                          <a:solidFill>
                            <a:srgbClr val="980000"/>
                          </a:solidFill>
                        </a:rPr>
                        <a:t>2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Subtract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8 % 4 + 2 = </a:t>
                      </a:r>
                      <a:r>
                        <a:rPr lang="en">
                          <a:solidFill>
                            <a:srgbClr val="980000"/>
                          </a:solidFill>
                        </a:rPr>
                        <a:t>2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Product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4 % 4 + 2 = </a:t>
                      </a:r>
                      <a:r>
                        <a:rPr lang="en">
                          <a:solidFill>
                            <a:srgbClr val="980000"/>
                          </a:solidFill>
                        </a:rPr>
                        <a:t>2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Switch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9 % 4 = </a:t>
                      </a:r>
                      <a:r>
                        <a:rPr lang="en">
                          <a:solidFill>
                            <a:srgbClr val="980000"/>
                          </a:solidFill>
                        </a:rPr>
                        <a:t>1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37112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Part (b): Calculating Initiation Interval from Actor Latencies	</a:t>
            </a:r>
            <a:endParaRPr>
              <a:solidFill>
                <a:srgbClr val="980000"/>
              </a:solidFill>
            </a:endParaRPr>
          </a:p>
        </p:txBody>
      </p:sp>
      <p:pic>
        <p:nvPicPr>
          <p:cNvPr id="86" name="Google Shape;86;p18" title="20261023_14460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875" y="901600"/>
            <a:ext cx="2947399" cy="4241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7" name="Google Shape;87;p18" title="20261023_14462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1749" y="901600"/>
            <a:ext cx="2887925" cy="41827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06" y="0"/>
            <a:ext cx="905618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>
            <p:ph type="title"/>
          </p:nvPr>
        </p:nvSpPr>
        <p:spPr>
          <a:xfrm>
            <a:off x="43900" y="119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Part (c): Timed Implementation with Actor Latency	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801" y="0"/>
            <a:ext cx="847239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latency of this streaming system is 15u.t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throughput of this streaming system is given as: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1/(Initiation Interval) or 1/15 samples / u.t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" name="Google Shape;108;p21"/>
          <p:cNvSpPr txBox="1"/>
          <p:nvPr>
            <p:ph type="title"/>
          </p:nvPr>
        </p:nvSpPr>
        <p:spPr>
          <a:xfrm>
            <a:off x="43900" y="119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Part (d): </a:t>
            </a:r>
            <a:r>
              <a:rPr lang="en">
                <a:solidFill>
                  <a:srgbClr val="980000"/>
                </a:solidFill>
              </a:rPr>
              <a:t>Latency</a:t>
            </a:r>
            <a:r>
              <a:rPr lang="en">
                <a:solidFill>
                  <a:srgbClr val="980000"/>
                </a:solidFill>
              </a:rPr>
              <a:t> and Throughput	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781000"/>
            <a:ext cx="8520600" cy="27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v[n] +</a:t>
            </a:r>
            <a:r>
              <a:rPr lang="en">
                <a:highlight>
                  <a:srgbClr val="F4CCCC"/>
                </a:highlight>
              </a:rPr>
              <a:t> v[n] ( 0.04v[n] + 5)</a:t>
            </a:r>
            <a:r>
              <a:rPr lang="en"/>
              <a:t> - u[n] + J[n] + 140</a:t>
            </a:r>
            <a:endParaRPr/>
          </a:p>
        </p:txBody>
      </p:sp>
      <p:sp>
        <p:nvSpPr>
          <p:cNvPr id="114" name="Google Shape;114;p22"/>
          <p:cNvSpPr txBox="1"/>
          <p:nvPr>
            <p:ph type="title"/>
          </p:nvPr>
        </p:nvSpPr>
        <p:spPr>
          <a:xfrm>
            <a:off x="43900" y="119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Part (e,f): </a:t>
            </a:r>
            <a:r>
              <a:rPr lang="en">
                <a:solidFill>
                  <a:srgbClr val="980000"/>
                </a:solidFill>
              </a:rPr>
              <a:t>Latency</a:t>
            </a:r>
            <a:r>
              <a:rPr lang="en">
                <a:solidFill>
                  <a:srgbClr val="980000"/>
                </a:solidFill>
              </a:rPr>
              <a:t> and Cumulative Latency Optimisation	</a:t>
            </a:r>
            <a:endParaRPr>
              <a:solidFill>
                <a:srgbClr val="980000"/>
              </a:solidFill>
            </a:endParaRPr>
          </a:p>
        </p:txBody>
      </p:sp>
      <p:pic>
        <p:nvPicPr>
          <p:cNvPr id="115" name="Google Shape;115;p22"/>
          <p:cNvPicPr preferRelativeResize="0"/>
          <p:nvPr/>
        </p:nvPicPr>
        <p:blipFill rotWithShape="1">
          <a:blip r:embed="rId3">
            <a:alphaModFix/>
          </a:blip>
          <a:srcRect b="45445" l="0" r="0" t="0"/>
          <a:stretch/>
        </p:blipFill>
        <p:spPr>
          <a:xfrm>
            <a:off x="311700" y="1152475"/>
            <a:ext cx="601945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